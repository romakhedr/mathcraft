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F6C23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206240"/>
            <a:ext cx="2926080" cy="2926080"/>
          </a:xfrm>
          <a:prstGeom prst="ellipse">
            <a:avLst/>
          </a:prstGeom>
          <a:solidFill>
            <a:srgbClr val="BFE3D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-480000">
            <a:off x="9692640" y="914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FFFFF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∑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 rot="360000">
            <a:off x="-1005840" y="39319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BFE3D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√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MATHCRAFT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68680" y="3456432"/>
            <a:ext cx="5943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6C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Education, Reimagined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shouldn’t feel like a wall you can’t climb.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600000">
            <a:off x="9692640" y="-9144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D2B2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÷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Millions of Students Memorize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Formulas Without Understanding Them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isn’t just lower grades — it’s students who quietly decide math “isn’t for them,” long before they ever get the chance to see how it clicks.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BFE3D1"/>
          </a:solidFill>
          <a:ln/>
        </p:spPr>
      </p:sp>
      <p:pic>
        <p:nvPicPr>
          <p:cNvPr id="6" name="Image 0" descr="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008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3154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topics feel like threats instead of puzzles worth solving.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BFE3D1"/>
          </a:solidFill>
          <a:ln/>
        </p:spPr>
      </p:sp>
      <p:pic>
        <p:nvPicPr>
          <p:cNvPr id="10" name="Image 1" descr="icons/frow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0599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without meaning are hard to remember and easy to resent.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BFE3D1"/>
          </a:solidFill>
          <a:ln/>
        </p:spPr>
      </p:sp>
      <p:pic>
        <p:nvPicPr>
          <p:cNvPr id="14" name="Image 2" descr="icons/trend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1114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Lost Potential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257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students disengage before they discover what they’re capable of.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480000">
            <a:off x="-1188720" y="-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BFE3D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x²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291840" cy="3291840"/>
          </a:xfrm>
          <a:prstGeom prst="ellipse">
            <a:avLst/>
          </a:prstGeom>
          <a:solidFill>
            <a:srgbClr val="F6C236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Introducing MathCraft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C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math becomes visual, interactive, and actually makes sense.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0D2B21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97480"/>
            <a:ext cx="777240" cy="777240"/>
          </a:xfrm>
          <a:prstGeom prst="ellipse">
            <a:avLst/>
          </a:prstGeom>
          <a:solidFill>
            <a:srgbClr val="F6C236"/>
          </a:solidFill>
          <a:ln/>
        </p:spPr>
      </p:sp>
      <p:pic>
        <p:nvPicPr>
          <p:cNvPr id="8" name="Image 0" descr="icons/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87121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4023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ideas turn into diagrams and animations students can actually see.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0D2B21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2697480"/>
            <a:ext cx="777240" cy="777240"/>
          </a:xfrm>
          <a:prstGeom prst="ellipse">
            <a:avLst/>
          </a:prstGeom>
          <a:solidFill>
            <a:srgbClr val="F6C236"/>
          </a:solidFill>
          <a:ln/>
        </p:spPr>
      </p:sp>
      <p:pic>
        <p:nvPicPr>
          <p:cNvPr id="13" name="Image 1" descr="icons/z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87121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Interactive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63440" y="4023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by doing — solving, adjusting, and exploring in real time.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6384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0D2B21">
              <a:alpha val="8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8183880" y="2697480"/>
            <a:ext cx="777240" cy="777240"/>
          </a:xfrm>
          <a:prstGeom prst="ellipse">
            <a:avLst/>
          </a:prstGeom>
          <a:solidFill>
            <a:srgbClr val="F6C236"/>
          </a:solidFill>
          <a:ln/>
        </p:spPr>
      </p:sp>
      <p:pic>
        <p:nvPicPr>
          <p:cNvPr id="18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871216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388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Understandable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183880" y="4023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are built step by step, so nothing has to be memorized blind.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concepts.  Real understanding.  Real confidence.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480000">
            <a:off x="9966960" y="47548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rgbClr val="0D2B2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π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MathCraft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principles guide every lesson, from first concept to full mastery.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AF6"/>
          </a:solidFill>
          <a:ln/>
          <a:effectLst>
            <a:outerShdw sx="100000" sy="100000" kx="0" ky="0" algn="bl" rotWithShape="0" blurRad="101600" dist="38100" dir="5400000">
              <a:srgbClr val="0D2B2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0D2B21"/>
          </a:solidFill>
          <a:ln/>
        </p:spPr>
      </p:sp>
      <p:pic>
        <p:nvPicPr>
          <p:cNvPr id="7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 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5328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concepts come alive through interactive diagrams and animations.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AF6"/>
          </a:solidFill>
          <a:ln/>
          <a:effectLst>
            <a:outerShdw sx="100000" sy="100000" kx="0" ky="0" algn="bl" rotWithShape="0" blurRad="101600" dist="38100" dir="5400000">
              <a:srgbClr val="0D2B2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658368" cy="658368"/>
          </a:xfrm>
          <a:prstGeom prst="ellipse">
            <a:avLst/>
          </a:prstGeom>
          <a:solidFill>
            <a:srgbClr val="0D2B21"/>
          </a:solidFill>
          <a:ln/>
        </p:spPr>
      </p:sp>
      <p:pic>
        <p:nvPicPr>
          <p:cNvPr id="12" name="Image 1" descr="icons/pla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042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 by Doing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25328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that build real, lasting understanding.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AF6"/>
          </a:solidFill>
          <a:ln/>
          <a:effectLst>
            <a:outerShdw sx="100000" sy="100000" kx="0" ky="0" algn="bl" rotWithShape="0" blurRad="101600" dist="38100" dir="5400000">
              <a:srgbClr val="0D2B2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251960"/>
            <a:ext cx="658368" cy="658368"/>
          </a:xfrm>
          <a:prstGeom prst="ellipse">
            <a:avLst/>
          </a:prstGeom>
          <a:solidFill>
            <a:srgbClr val="0D2B21"/>
          </a:solidFill>
          <a:ln/>
        </p:spPr>
      </p:sp>
      <p:pic>
        <p:nvPicPr>
          <p:cNvPr id="17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4074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Step-by-Step Guidance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46360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topics broken into clear, manageable steps.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AF6"/>
          </a:solidFill>
          <a:ln/>
          <a:effectLst>
            <a:outerShdw sx="100000" sy="100000" kx="0" ky="0" algn="bl" rotWithShape="0" blurRad="101600" dist="38100" dir="5400000">
              <a:srgbClr val="0D2B21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29400" y="4251960"/>
            <a:ext cx="658368" cy="658368"/>
          </a:xfrm>
          <a:prstGeom prst="ellipse">
            <a:avLst/>
          </a:prstGeom>
          <a:solidFill>
            <a:srgbClr val="0D2B21"/>
          </a:solidFill>
          <a:ln/>
        </p:spPr>
      </p:sp>
      <p:pic>
        <p:nvPicPr>
          <p:cNvPr id="22" name="Image 3" descr="icons/trend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4074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 Your Progress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98080" y="46360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skills — and confidence — grow with every lesson.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360000">
            <a:off x="-1280160" y="42062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D2B2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Understanding,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Memorization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2B2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700" dirty="0"/>
          </a:p>
        </p:txBody>
      </p:sp>
      <p:pic>
        <p:nvPicPr>
          <p:cNvPr id="6" name="Image 0" descr="icons/arrow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578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22860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Understanding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2B2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35661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700" dirty="0"/>
          </a:p>
        </p:txBody>
      </p:sp>
      <p:pic>
        <p:nvPicPr>
          <p:cNvPr id="10" name="Image 1" descr="icons/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8587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3566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Confidence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D2B21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005840" y="4846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</a:t>
            </a:r>
            <a:endParaRPr lang="en-US" sz="1700" dirty="0"/>
          </a:p>
        </p:txBody>
      </p:sp>
      <p:pic>
        <p:nvPicPr>
          <p:cNvPr id="14" name="Image 2" descr="icons/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513892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4846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Genuine Mastery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937760" cy="4937760"/>
          </a:xfrm>
          <a:prstGeom prst="ellipse">
            <a:avLst/>
          </a:prstGeom>
          <a:solidFill>
            <a:srgbClr val="F6C23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 rot="240000">
            <a:off x="-1097280" y="40233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BFE3D1">
                    <a:alpha val="12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∞</a:t>
            </a:r>
            <a:endParaRPr lang="en-US" sz="19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5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MathCraft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6C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Education, Reimagined.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69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www.mathcraft.com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MathCraft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2026-07-18T12:53:51Z</dcterms:created>
  <dcterms:modified xsi:type="dcterms:W3CDTF">2026-07-18T12:53:51Z</dcterms:modified>
</cp:coreProperties>
</file>